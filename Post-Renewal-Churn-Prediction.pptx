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64008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POST-RENEWAL CHURN PREDICTION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at-risk customers using billing, customer care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renewal call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Team 16  |  XGBoost  |  April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731520"/>
            <a:ext cx="2560320" cy="256032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286000"/>
            <a:ext cx="1828800" cy="1828800"/>
          </a:xfrm>
          <a:prstGeom prst="ellipse">
            <a:avLst/>
          </a:prstGeom>
          <a:solidFill>
            <a:srgbClr val="E84393">
              <a:alpha val="20000"/>
            </a:srgbClr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jmangroup.com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046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Mission: Predict customer churn in the critical post-renewal window for accreditation services — enabling proactive retention before revenue leakage occurs.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1920240" cy="11430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673352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25,925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222885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Merged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1600200"/>
            <a:ext cx="1920240" cy="1143000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1673352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31720" y="222885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600200"/>
            <a:ext cx="1920240" cy="11430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1673352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0" y="222885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1600200"/>
            <a:ext cx="1920240" cy="1143000"/>
          </a:xfrm>
          <a:prstGeom prst="rect">
            <a:avLst/>
          </a:prstGeom>
          <a:solidFill>
            <a:srgbClr val="E843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1673352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222885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Validated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2461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&amp; cleaned </a:t>
            </a:r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 sources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(billings, CC calls, renewal calls, emails)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churn target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won/churned/open logic with 28-day proxy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</a:t>
            </a:r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3 distinct categories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XGBoost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scale_pos_weight for class imbalance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246120"/>
            <a:ext cx="1828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identified as churned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75120" y="3246120"/>
            <a:ext cx="1828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16,498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 (won)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3886200"/>
            <a:ext cx="1828800" cy="548640"/>
          </a:xfrm>
          <a:prstGeom prst="rect">
            <a:avLst/>
          </a:prstGeom>
          <a:solidFill>
            <a:srgbClr val="0D1B4B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predictive features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3886200"/>
            <a:ext cx="1828800" cy="548640"/>
          </a:xfrm>
          <a:prstGeom prst="rect">
            <a:avLst/>
          </a:prstGeom>
          <a:solidFill>
            <a:srgbClr val="0D1B4B">
              <a:alpha val="9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leakage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identified &amp; removed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64008" cy="86868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444752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customers whose renewal date has passed silently lapse without intervention, recurring subscription revenue is permanently lost.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03120"/>
            <a:ext cx="64008" cy="86868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194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450592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CRM systems only record churn after it has occurred — there is no proactive signal to trigger a retention response.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08960"/>
            <a:ext cx="64008" cy="86868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200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Open Accounts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456432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8,096 accounts have no definitive outcome. A proxy rule (4-week post-renewal contact) was needed to classify ambiguous cases.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1155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1430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1115568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accounts before disengagement using pre-renewal behavioural signals.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01168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0391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2011680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2039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financial and behavioural drivers of churn through statistical hypothesis testing.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90779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29352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74920" y="2907792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66360" y="29352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validated predictive model deployable in real-time CRM workflows.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80390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8313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74920" y="3803904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66360" y="3831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20 statistically-grounded business hypotheses as decision-making evidence.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1325880" cy="1645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515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" y="1664208"/>
            <a:ext cx="1179576" cy="8869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1752" y="1682496"/>
            <a:ext cx="1179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 files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331K rows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72768" y="1691640"/>
            <a:ext cx="118872" cy="32004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1640" y="1005840"/>
            <a:ext cx="1325880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10515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64792" y="1664208"/>
            <a:ext cx="1179576" cy="8869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64792" y="1682496"/>
            <a:ext cx="1179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fill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35808" y="1691640"/>
            <a:ext cx="118872" cy="32004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1005840"/>
            <a:ext cx="1325880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10515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1664208"/>
            <a:ext cx="1179576" cy="8869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27832" y="1682496"/>
            <a:ext cx="1179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join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Post-renewal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98848" y="1691640"/>
            <a:ext cx="118872" cy="32004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1005840"/>
            <a:ext cx="1325880" cy="1645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10515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1664208"/>
            <a:ext cx="1179576" cy="8869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1682496"/>
            <a:ext cx="1179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61888" y="1691640"/>
            <a:ext cx="118872" cy="32004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0760" y="1005840"/>
            <a:ext cx="1325880" cy="164592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10515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53912" y="1664208"/>
            <a:ext cx="1179576" cy="8869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53912" y="1682496"/>
            <a:ext cx="1179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purge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24928" y="1691640"/>
            <a:ext cx="118872" cy="32004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33" name="Shape 31"/>
          <p:cNvSpPr/>
          <p:nvPr/>
        </p:nvSpPr>
        <p:spPr>
          <a:xfrm>
            <a:off x="7543800" y="1005840"/>
            <a:ext cx="1325880" cy="1645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4" name="Text 32"/>
          <p:cNvSpPr/>
          <p:nvPr/>
        </p:nvSpPr>
        <p:spPr>
          <a:xfrm>
            <a:off x="7543800" y="10515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16952" y="1664208"/>
            <a:ext cx="1179576" cy="8869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16952" y="1682496"/>
            <a:ext cx="1179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accuracy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0.94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4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3200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200400"/>
            <a:ext cx="201168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2186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billings.csv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" y="3493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122K rows, 59 cols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data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68880" y="3200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68880" y="3200400"/>
            <a:ext cx="201168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2514600" y="32186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cc_calls.csv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493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 rows, 25 cols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care logs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3200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3200400"/>
            <a:ext cx="201168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32186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renewal_calls.csv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3493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186K rows, 28 cols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transcripts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58000" y="3200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0" y="3200400"/>
            <a:ext cx="2011680" cy="2560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2" name="Text 50"/>
          <p:cNvSpPr/>
          <p:nvPr/>
        </p:nvSpPr>
        <p:spPr>
          <a:xfrm>
            <a:off x="6903720" y="32186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emails.csv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03720" y="3493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engagement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(supplementary)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274320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" y="777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nb_data_clean_billings.ipynb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8872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" y="1188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column normalisation to snake_case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3852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" y="19385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Deduplication: 122,082 → 47,826 unique 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" y="26883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Post-renewal date filter removes 13,805 premature closures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" y="34381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34,021 clean post-renewal records, 37 cols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749808"/>
            <a:ext cx="2743200" cy="34747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4" name="Text 22"/>
          <p:cNvSpPr/>
          <p:nvPr/>
        </p:nvSpPr>
        <p:spPr>
          <a:xfrm>
            <a:off x="3227832" y="777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nb_data_clean_cc_calls.ipynb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1188720"/>
            <a:ext cx="256032" cy="256032"/>
          </a:xfrm>
          <a:prstGeom prst="ellipse">
            <a:avLst/>
          </a:prstGeom>
          <a:solidFill>
            <a:srgbClr val="0D1B4B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57016" y="1188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with billing master on co_ref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1938528"/>
            <a:ext cx="256032" cy="256032"/>
          </a:xfrm>
          <a:prstGeom prst="ellipse">
            <a:avLst/>
          </a:prstGeom>
          <a:solidFill>
            <a:srgbClr val="0D1B4B"/>
          </a:solidFill>
          <a:ln/>
        </p:spPr>
      </p:sp>
      <p:sp>
        <p:nvSpPr>
          <p:cNvPr id="30" name="Text 28"/>
          <p:cNvSpPr/>
          <p:nvPr/>
        </p:nvSpPr>
        <p:spPr>
          <a:xfrm>
            <a:off x="324612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57016" y="19385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normalisation for messy free-text columns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688336"/>
            <a:ext cx="256032" cy="256032"/>
          </a:xfrm>
          <a:prstGeom prst="ellipse">
            <a:avLst/>
          </a:prstGeom>
          <a:solidFill>
            <a:srgbClr val="0D1B4B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57016" y="26883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Filter Call_Date ≤ Prospect_Renewal_Date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3438144"/>
            <a:ext cx="256032" cy="256032"/>
          </a:xfrm>
          <a:prstGeom prst="ellipse">
            <a:avLst/>
          </a:prstGeom>
          <a:solidFill>
            <a:srgbClr val="0D1B4B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57016" y="34381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to 1 row per customer with binary flags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0760" y="749808"/>
            <a:ext cx="2743200" cy="34747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39" name="Text 37"/>
          <p:cNvSpPr/>
          <p:nvPr/>
        </p:nvSpPr>
        <p:spPr>
          <a:xfrm>
            <a:off x="6153912" y="777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nb_data_clean_renewal_calls.ipynb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076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1188720"/>
            <a:ext cx="256032" cy="256032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83096" y="1188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NLP-parsed conversational feature columns kept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1938528"/>
            <a:ext cx="256032" cy="256032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83096" y="19385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Mode-based null imputation grouped by renewal decision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2688336"/>
            <a:ext cx="256032" cy="256032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48" name="Text 46"/>
          <p:cNvSpPr/>
          <p:nvPr/>
        </p:nvSpPr>
        <p:spPr>
          <a:xfrm>
            <a:off x="617220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83096" y="26883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standardisation (300+ inconsistent label mappings)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72200" y="3438144"/>
            <a:ext cx="256032" cy="256032"/>
          </a:xfrm>
          <a:prstGeom prst="ellipse">
            <a:avLst/>
          </a:prstGeom>
          <a:solidFill>
            <a:srgbClr val="E84393"/>
          </a:solidFill>
          <a:ln/>
        </p:spPr>
      </p:sp>
      <p:sp>
        <p:nvSpPr>
          <p:cNvPr id="51" name="Text 49"/>
          <p:cNvSpPr/>
          <p:nvPr/>
        </p:nvSpPr>
        <p:spPr>
          <a:xfrm>
            <a:off x="617220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83096" y="34381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encoding for all categorical columns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Definition – Churn Label Logic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– EDA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0" y="777240"/>
            <a:ext cx="219456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82296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prospect_outcome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219456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2024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 →  churn_label =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Churned)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1874520"/>
            <a:ext cx="2194560" cy="50292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92024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 →  churn_label =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(Churned)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1874520"/>
            <a:ext cx="219456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92024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→  apply 4-week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rule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606040"/>
            <a:ext cx="2926080" cy="8686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2606040"/>
            <a:ext cx="54864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053328" y="2651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Proxy Rule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co_ref had a post-renewal call within 28 days → label = 1 (Churned)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NaN (excluded from training)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 Distribution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9123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990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 (Won)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32404" y="3008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16,498 (63.7%)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1659636" cy="34747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34930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79676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9,427 (36.3%)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13716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3995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(NaN)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91640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8,096 (–%)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– 20 Validated Business Hypotheses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– Hypothesis Testing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confirmed 20 hypotheses (p &lt; 0.05) across 4 business domains using Independent T-Tests (numeric) and Chi-Square tests (categorical).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161288"/>
            <a:ext cx="384048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" y="11704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161288"/>
            <a:ext cx="11430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17043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161288"/>
            <a:ext cx="35204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17043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1161288"/>
            <a:ext cx="118872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1216152" y="1170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83080" y="1161288"/>
            <a:ext cx="178308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1810512" y="117043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1435608"/>
            <a:ext cx="38404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435608"/>
            <a:ext cx="1143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1435608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8720" y="143560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83080" y="1435608"/>
            <a:ext cx="1783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14630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4088" y="146304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sustainability_score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46120" y="146304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sustainability scores reduce churn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34440" y="14630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28800" y="146304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1755648"/>
            <a:ext cx="384048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1755648"/>
            <a:ext cx="114300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1755648"/>
            <a:ext cx="352044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8720" y="1755648"/>
            <a:ext cx="118872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1755648"/>
            <a:ext cx="178308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" y="17830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4088" y="178308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auto_renewal_score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46120" y="178308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score significantly impacts churn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234440" y="17830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28800" y="178308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2075688"/>
            <a:ext cx="38404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" y="2075688"/>
            <a:ext cx="1143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0" y="2075688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188720" y="207568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783080" y="2075688"/>
            <a:ext cx="1783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01752" y="21031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4088" y="210312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tenure_years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210312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tenure reduces churn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234440" y="2103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828800" y="210312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395728"/>
            <a:ext cx="384048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58368" y="2395728"/>
            <a:ext cx="114300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1" name="Shape 49"/>
          <p:cNvSpPr/>
          <p:nvPr/>
        </p:nvSpPr>
        <p:spPr>
          <a:xfrm>
            <a:off x="3200400" y="2395728"/>
            <a:ext cx="352044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188720" y="2395728"/>
            <a:ext cx="118872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83080" y="2395728"/>
            <a:ext cx="178308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" y="24231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04088" y="242316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of_connection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46120" y="24231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complexity (connections) reduces churn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234440" y="24231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828800" y="242316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2715768"/>
            <a:ext cx="38404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58368" y="2715768"/>
            <a:ext cx="1143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3200400" y="2715768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188720" y="271576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1783080" y="2715768"/>
            <a:ext cx="1783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301752" y="274320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4088" y="274320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any_serious_complaint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46120" y="274320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complaints lead to churn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234440" y="27432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828800" y="27432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6032" y="3035808"/>
            <a:ext cx="384048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0" name="Shape 68"/>
          <p:cNvSpPr/>
          <p:nvPr/>
        </p:nvSpPr>
        <p:spPr>
          <a:xfrm>
            <a:off x="658368" y="3035808"/>
            <a:ext cx="114300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1" name="Shape 69"/>
          <p:cNvSpPr/>
          <p:nvPr/>
        </p:nvSpPr>
        <p:spPr>
          <a:xfrm>
            <a:off x="3200400" y="3035808"/>
            <a:ext cx="352044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188720" y="3035808"/>
            <a:ext cx="118872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3" name="Shape 71"/>
          <p:cNvSpPr/>
          <p:nvPr/>
        </p:nvSpPr>
        <p:spPr>
          <a:xfrm>
            <a:off x="1783080" y="3035808"/>
            <a:ext cx="178308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4" name="Text 72"/>
          <p:cNvSpPr/>
          <p:nvPr/>
        </p:nvSpPr>
        <p:spPr>
          <a:xfrm>
            <a:off x="301752" y="30632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04088" y="306324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ren_avg_sentiment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246120" y="306324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call sentiment increases churn risk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234440" y="30632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828800" y="306324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6032" y="3355848"/>
            <a:ext cx="38404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658368" y="3355848"/>
            <a:ext cx="1143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3200400" y="3355848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1188720" y="335584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1783080" y="3355848"/>
            <a:ext cx="1783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301752" y="33832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04088" y="338328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discount_requested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3246120" y="338328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requests linked to churn sensitivity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234440" y="33832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828800" y="338328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56032" y="3675888"/>
            <a:ext cx="384048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0" name="Shape 88"/>
          <p:cNvSpPr/>
          <p:nvPr/>
        </p:nvSpPr>
        <p:spPr>
          <a:xfrm>
            <a:off x="658368" y="3675888"/>
            <a:ext cx="114300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1" name="Shape 89"/>
          <p:cNvSpPr/>
          <p:nvPr/>
        </p:nvSpPr>
        <p:spPr>
          <a:xfrm>
            <a:off x="3200400" y="3675888"/>
            <a:ext cx="352044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2" name="Shape 90"/>
          <p:cNvSpPr/>
          <p:nvPr/>
        </p:nvSpPr>
        <p:spPr>
          <a:xfrm>
            <a:off x="1188720" y="3675888"/>
            <a:ext cx="118872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3" name="Shape 91"/>
          <p:cNvSpPr/>
          <p:nvPr/>
        </p:nvSpPr>
        <p:spPr>
          <a:xfrm>
            <a:off x="1783080" y="3675888"/>
            <a:ext cx="178308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4" name="Text 92"/>
          <p:cNvSpPr/>
          <p:nvPr/>
        </p:nvSpPr>
        <p:spPr>
          <a:xfrm>
            <a:off x="301752" y="37033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04088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desire_to_cancel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3246120" y="370332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desire to cancel is a strong predictor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234440" y="37033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828800" y="370332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256032" y="3995928"/>
            <a:ext cx="38404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Shape 98"/>
          <p:cNvSpPr/>
          <p:nvPr/>
        </p:nvSpPr>
        <p:spPr>
          <a:xfrm>
            <a:off x="658368" y="3995928"/>
            <a:ext cx="1143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3200400" y="3995928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88720" y="399592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783080" y="3995928"/>
            <a:ext cx="1783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301752" y="40233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704088" y="402336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price_change_pct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3246120" y="40233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price hikes increase churn risk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1234440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1828800" y="402336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56032" y="4315968"/>
            <a:ext cx="384048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58368" y="4315968"/>
            <a:ext cx="114300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200400" y="4315968"/>
            <a:ext cx="352044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88720" y="4315968"/>
            <a:ext cx="118872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783080" y="4315968"/>
            <a:ext cx="178308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301752" y="434340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704088" y="434340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connection_group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3246120" y="434340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group determines churn baseline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1234440" y="43434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1828800" y="43434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256032" y="4663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additional hypotheses validated — all 20 passed significance (p &lt; 0.05)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Target Leakage Prevention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– Hypothesis Testing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iterations with all 69 raw features achieved ~99% accuracy — a clear indicator of target leakage. Three distinct leakage categories were identified and purged.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161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719072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events that can only occur if the customer is already confirmed to have stayed or left.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69748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8803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post_renewal_call_count, post_cc_call_count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2161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6459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10128" y="1719072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status fields that update automatically when an account is cancelled — database trigger reflections.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69748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28803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last_band_Unknown, proforma_account_stage, sustainability_score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161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6459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1719072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 from renewal call transcripts that capture the customer's stated cancellation intent verbatim.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269748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36208" y="28803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membership_renewal_decision, explicit_switching_intent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859536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30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48840" y="3730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148840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retained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0" y="3730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40480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purged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32120" y="3730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32120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insignificant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23760" y="3730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23760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features removed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– Training &amp; Configuration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– Modeling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1965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795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0789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to prevent overfitting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23160" y="77724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777240"/>
            <a:ext cx="1965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795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10789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6888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learner for generalisation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77724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777240"/>
            <a:ext cx="1965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795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10789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tree complexity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77724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777240"/>
            <a:ext cx="1965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795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10789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66560" y="1554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64% / 36% class ratio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2514600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25420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model_dataset.csv (25,925 × 30)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935224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2962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pd.get_dummies() → expands to 45 predictor columns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" y="3383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(80/20, stratify=y)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776472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" y="3803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BinaryClassifier.fit(X_train, y_train)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197096"/>
            <a:ext cx="347472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4224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X_test → metrics, confusion matrix, AUC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0" y="2148840"/>
            <a:ext cx="3749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0" y="2148840"/>
            <a:ext cx="374904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6" name="Text 44"/>
          <p:cNvSpPr/>
          <p:nvPr/>
        </p:nvSpPr>
        <p:spPr>
          <a:xfrm>
            <a:off x="5074920" y="2167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Impact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20640" y="2514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feature cols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32320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OHE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20640" y="29169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45 predictor cols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132320" y="29169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OHE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20640" y="3319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tenure_group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32320" y="33192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binary cols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20640" y="3721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tenure_bucket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32320" y="37216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binary cols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20640" y="41239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anchor_group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132320" y="4123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binary cols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Performance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– Modeling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155448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229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749808"/>
            <a:ext cx="1554480" cy="1097280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8229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93392" y="13533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749808"/>
            <a:ext cx="1554480" cy="1097280"/>
          </a:xfrm>
          <a:prstGeom prst="rect">
            <a:avLst/>
          </a:prstGeom>
          <a:solidFill>
            <a:srgbClr val="E843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8229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12464" y="13533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(Churn)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31536" y="749808"/>
            <a:ext cx="1554480" cy="109728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8229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31536" y="13533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50608" y="749808"/>
            <a:ext cx="1554480" cy="10972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0608" y="8229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50608" y="13533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331720"/>
            <a:ext cx="132588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3500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45920" y="2331720"/>
            <a:ext cx="132588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7" name="Text 25"/>
          <p:cNvSpPr/>
          <p:nvPr/>
        </p:nvSpPr>
        <p:spPr>
          <a:xfrm>
            <a:off x="1691640" y="23500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Won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17520" y="2331720"/>
            <a:ext cx="132588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9" name="Text 27"/>
          <p:cNvSpPr/>
          <p:nvPr/>
        </p:nvSpPr>
        <p:spPr>
          <a:xfrm>
            <a:off x="3063240" y="23500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Churned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834640"/>
            <a:ext cx="132588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8529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Won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45920" y="2834640"/>
            <a:ext cx="13258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1691640" y="28529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3,109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017520" y="2834640"/>
            <a:ext cx="132588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5" name="Text 33"/>
          <p:cNvSpPr/>
          <p:nvPr/>
        </p:nvSpPr>
        <p:spPr>
          <a:xfrm>
            <a:off x="3063240" y="28529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3337560"/>
            <a:ext cx="1325880" cy="4572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3558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Churned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45920" y="3337560"/>
            <a:ext cx="132588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" y="33558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017520" y="3337560"/>
            <a:ext cx="13258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3063240" y="33558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0" y="2331720"/>
            <a:ext cx="1024128" cy="40233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4" name="Text 42"/>
          <p:cNvSpPr/>
          <p:nvPr/>
        </p:nvSpPr>
        <p:spPr>
          <a:xfrm>
            <a:off x="4617720" y="235000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41848" y="2331720"/>
            <a:ext cx="1024128" cy="40233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6" name="Text 44"/>
          <p:cNvSpPr/>
          <p:nvPr/>
        </p:nvSpPr>
        <p:spPr>
          <a:xfrm>
            <a:off x="5687568" y="235000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11696" y="2331720"/>
            <a:ext cx="1024128" cy="40233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8" name="Text 46"/>
          <p:cNvSpPr/>
          <p:nvPr/>
        </p:nvSpPr>
        <p:spPr>
          <a:xfrm>
            <a:off x="6757416" y="235000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81544" y="2331720"/>
            <a:ext cx="1024128" cy="40233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50" name="Text 48"/>
          <p:cNvSpPr/>
          <p:nvPr/>
        </p:nvSpPr>
        <p:spPr>
          <a:xfrm>
            <a:off x="7827264" y="235000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0" y="2770632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617720" y="27889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 (0)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41848" y="2770632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687568" y="27889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11696" y="2770632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757416" y="27889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781544" y="2770632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827264" y="27889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3209544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0" name="Text 58"/>
          <p:cNvSpPr/>
          <p:nvPr/>
        </p:nvSpPr>
        <p:spPr>
          <a:xfrm>
            <a:off x="4617720" y="322783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(1)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41848" y="3209544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2" name="Text 60"/>
          <p:cNvSpPr/>
          <p:nvPr/>
        </p:nvSpPr>
        <p:spPr>
          <a:xfrm>
            <a:off x="5687568" y="322783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711696" y="3209544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4" name="Text 62"/>
          <p:cNvSpPr/>
          <p:nvPr/>
        </p:nvSpPr>
        <p:spPr>
          <a:xfrm>
            <a:off x="6757416" y="322783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781544" y="3209544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6" name="Text 64"/>
          <p:cNvSpPr/>
          <p:nvPr/>
        </p:nvSpPr>
        <p:spPr>
          <a:xfrm>
            <a:off x="7827264" y="322783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0" y="3648456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4617720" y="366674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641848" y="3648456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5687568" y="366674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711696" y="3648456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757416" y="366674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781544" y="3648456"/>
            <a:ext cx="102412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7827264" y="366674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0" y="4087368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6" name="Text 74"/>
          <p:cNvSpPr/>
          <p:nvPr/>
        </p:nvSpPr>
        <p:spPr>
          <a:xfrm>
            <a:off x="4617720" y="41056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641848" y="4087368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8" name="Text 76"/>
          <p:cNvSpPr/>
          <p:nvPr/>
        </p:nvSpPr>
        <p:spPr>
          <a:xfrm>
            <a:off x="5687568" y="41056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711696" y="4087368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0" name="Text 78"/>
          <p:cNvSpPr/>
          <p:nvPr/>
        </p:nvSpPr>
        <p:spPr>
          <a:xfrm>
            <a:off x="6757416" y="41056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781544" y="4087368"/>
            <a:ext cx="1024128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2" name="Text 80"/>
          <p:cNvSpPr/>
          <p:nvPr/>
        </p:nvSpPr>
        <p:spPr>
          <a:xfrm>
            <a:off x="7827264" y="410565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4" name="Shape 82"/>
          <p:cNvSpPr/>
          <p:nvPr/>
        </p:nvSpPr>
        <p:spPr>
          <a:xfrm>
            <a:off x="274320" y="4572000"/>
            <a:ext cx="807963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5" name="Text 83"/>
          <p:cNvSpPr/>
          <p:nvPr/>
        </p:nvSpPr>
        <p:spPr>
          <a:xfrm>
            <a:off x="320040" y="45811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0.94 → Excellent discrimination between churned and retained customers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 – Information Gain Ranking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– Feature Importance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authentic, historically-grounded features remain after leakage purge. Ranked by XGBoost Information Gain — the reduction in uncertainty when choosing a decision-tree split.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tenure_scores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1197864"/>
            <a:ext cx="5029200" cy="2011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1" name="Text 9"/>
          <p:cNvSpPr/>
          <p:nvPr/>
        </p:nvSpPr>
        <p:spPr>
          <a:xfrm>
            <a:off x="8439912" y="1170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12480" y="1207008"/>
            <a:ext cx="502920" cy="182880"/>
          </a:xfrm>
          <a:prstGeom prst="rect">
            <a:avLst/>
          </a:prstGeom>
          <a:solidFill>
            <a:srgbClr val="0D1B4B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19786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1463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cc_customer_issues_concerns_flag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1490472"/>
            <a:ext cx="3911600" cy="201168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22312" y="1463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12480" y="1499616"/>
            <a:ext cx="502920" cy="182880"/>
          </a:xfrm>
          <a:prstGeom prst="rect">
            <a:avLst/>
          </a:prstGeom>
          <a:solidFill>
            <a:srgbClr val="E84393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49047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1755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tenure_years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37560" y="1783080"/>
            <a:ext cx="3352800" cy="2011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3512" y="1755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12480" y="1792224"/>
            <a:ext cx="502920" cy="182880"/>
          </a:xfrm>
          <a:prstGeom prst="rect">
            <a:avLst/>
          </a:prstGeom>
          <a:solidFill>
            <a:srgbClr val="0D1B4B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178308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74320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anchoring_score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075688"/>
            <a:ext cx="3073400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112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412480" y="2084832"/>
            <a:ext cx="502920" cy="18288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207568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last_connections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2368296"/>
            <a:ext cx="2794000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204712" y="2340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412480" y="2377440"/>
            <a:ext cx="502920" cy="18288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236829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432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price_change_pct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37560" y="2660904"/>
            <a:ext cx="251460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5925312" y="2633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412480" y="2670048"/>
            <a:ext cx="502920" cy="182880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266090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4320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37560" y="2953512"/>
            <a:ext cx="223520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5645912" y="2926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412480" y="2962656"/>
            <a:ext cx="502920" cy="182880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295351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74320" y="3218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cc_pricing_sentiment_impact_flag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37560" y="3246120"/>
            <a:ext cx="1955800" cy="201168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46" name="Text 44"/>
          <p:cNvSpPr/>
          <p:nvPr/>
        </p:nvSpPr>
        <p:spPr>
          <a:xfrm>
            <a:off x="5366512" y="3218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412480" y="3255264"/>
            <a:ext cx="502920" cy="182880"/>
          </a:xfrm>
          <a:prstGeom prst="rect">
            <a:avLst/>
          </a:prstGeom>
          <a:solidFill>
            <a:srgbClr val="E84393">
              <a:alpha val="7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0" y="32461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4320" y="3511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last_years_price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37560" y="3538728"/>
            <a:ext cx="167640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1" name="Text 49"/>
          <p:cNvSpPr/>
          <p:nvPr/>
        </p:nvSpPr>
        <p:spPr>
          <a:xfrm>
            <a:off x="5087112" y="35112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412480" y="3547872"/>
            <a:ext cx="502920" cy="182880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0" y="353872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74320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cc_business_struggles_flag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337560" y="3831336"/>
            <a:ext cx="1397000" cy="201168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56" name="Text 54"/>
          <p:cNvSpPr/>
          <p:nvPr/>
        </p:nvSpPr>
        <p:spPr>
          <a:xfrm>
            <a:off x="4807712" y="3803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412480" y="3840480"/>
            <a:ext cx="502920" cy="182880"/>
          </a:xfrm>
          <a:prstGeom prst="rect">
            <a:avLst/>
          </a:prstGeom>
          <a:solidFill>
            <a:srgbClr val="E84393">
              <a:alpha val="7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412480" y="38313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74320" y="4096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tenure_bucket_loyal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337560" y="4123944"/>
            <a:ext cx="1117600" cy="2011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1" name="Text 59"/>
          <p:cNvSpPr/>
          <p:nvPr/>
        </p:nvSpPr>
        <p:spPr>
          <a:xfrm>
            <a:off x="4528312" y="4096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412480" y="4133088"/>
            <a:ext cx="502920" cy="182880"/>
          </a:xfrm>
          <a:prstGeom prst="rect">
            <a:avLst/>
          </a:prstGeom>
          <a:solidFill>
            <a:srgbClr val="0D1B4B">
              <a:alpha val="7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412480" y="412394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74320" y="4389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tenure_group_4+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337560" y="4416552"/>
            <a:ext cx="838200" cy="2011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6" name="Text 64"/>
          <p:cNvSpPr/>
          <p:nvPr/>
        </p:nvSpPr>
        <p:spPr>
          <a:xfrm>
            <a:off x="4248912" y="4389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412480" y="4425696"/>
            <a:ext cx="502920" cy="182880"/>
          </a:xfrm>
          <a:prstGeom prst="rect">
            <a:avLst/>
          </a:prstGeom>
          <a:solidFill>
            <a:srgbClr val="0D1B4B">
              <a:alpha val="7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8412480" y="441655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74320" y="4663440"/>
            <a:ext cx="164592" cy="16459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0" name="Text 68"/>
          <p:cNvSpPr/>
          <p:nvPr/>
        </p:nvSpPr>
        <p:spPr>
          <a:xfrm>
            <a:off x="475488" y="4654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377440" y="4663440"/>
            <a:ext cx="164592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2" name="Text 70"/>
          <p:cNvSpPr/>
          <p:nvPr/>
        </p:nvSpPr>
        <p:spPr>
          <a:xfrm>
            <a:off x="2578608" y="4654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74" name="Text 72"/>
          <p:cNvSpPr/>
          <p:nvPr/>
        </p:nvSpPr>
        <p:spPr>
          <a:xfrm>
            <a:off x="4681728" y="4654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(CC)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583680" y="4663440"/>
            <a:ext cx="164592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6" name="Text 74"/>
          <p:cNvSpPr/>
          <p:nvPr/>
        </p:nvSpPr>
        <p:spPr>
          <a:xfrm>
            <a:off x="6784848" y="4654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&amp; Strategic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4023360" cy="3200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is the #1 Retention Driver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188720"/>
            <a:ext cx="3822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scores and tenure years are the single strongest predictors. Long-tenured customers have high switching costs — but need proactive engagement to prevent silent lapse.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04672"/>
            <a:ext cx="4023360" cy="32004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Complaints Signal Future Churn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1728" y="1188720"/>
            <a:ext cx="3822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previously reported issues or pricing concerns to Customer Care are significantly more likely to churn at renewal, especially when facing a price increase.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79192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79192"/>
            <a:ext cx="402336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is Measurable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063240"/>
            <a:ext cx="3822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price_change_pct is a strong predictor. A 5% hike for a short-tenure customer carries far more churn risk than the same increase for a 7-year veteran subscriber.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679192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679192"/>
            <a:ext cx="402336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Depth Creates Lock-in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3063240"/>
            <a:ext cx="3822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last_connections and anchoring_score confirm that deeply embedded customers are harder to lose. Cross-sell and integration campaigns protect renewals.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5994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Deploy proactive CRM alerts for high-risk segments  |  Prioritise retention offers for price-sensitive short-tenure accounts  |  Build sentiment-triggered escalation workflows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09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4873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Limited – Commercial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80467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207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463040"/>
            <a:ext cx="3858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used a random 80/20 split. A time-based split would better simulate real-world deployment and prevent temporal leakage.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02536"/>
            <a:ext cx="64008" cy="80467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939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Proxy Imprecision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350008"/>
            <a:ext cx="3858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open accounts as churned based on call presence is a heuristic — some may have ultimately renewed.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89504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89504"/>
            <a:ext cx="64008" cy="80467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9809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Data Sparsity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236976"/>
            <a:ext cx="3858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6,022 of 25,925 customers have CC call records. Imputing 0 for non-callers is statistically conservative but loses signal.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776472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76472"/>
            <a:ext cx="64008" cy="80467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867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Dependencies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123944"/>
            <a:ext cx="3858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use local relative file paths and basic hyperparameter grids — not production-grade pipeline configuration.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115568"/>
            <a:ext cx="685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13385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94960" y="1115568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0" y="11521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train/test split for real-world simulation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837944"/>
            <a:ext cx="685800" cy="5486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185623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94960" y="1837944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XGBoost/LightGBM hyperparameter tuning via GridSearchCV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560320"/>
            <a:ext cx="685800" cy="5486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57860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94960" y="2560320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2596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 Risk API for real-time CRM integration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282696"/>
            <a:ext cx="6858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300984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94960" y="3282696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0" y="3319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layer for per-customer risk explanation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4005072"/>
            <a:ext cx="6858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402336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94960" y="4005072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0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 to model time-to-churn probability curves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JM/\N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54864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Post-Renewal Churn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Team 16  |  April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1463040" cy="100584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84832" y="3383280"/>
            <a:ext cx="1463040" cy="100584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03904" y="3383280"/>
            <a:ext cx="1463040" cy="100584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03904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2976" y="3383280"/>
            <a:ext cx="1463040" cy="100584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22976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22976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42048" y="3383280"/>
            <a:ext cx="1463040" cy="100584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42048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25,925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42048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jmangroup.com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Post-Renewal Churn Prediction</dc:title>
  <dc:subject>PptxGenJS Presentation</dc:subject>
  <dc:creator>JMAN Group</dc:creator>
  <cp:lastModifiedBy>JMAN Group</cp:lastModifiedBy>
  <cp:revision>1</cp:revision>
  <dcterms:created xsi:type="dcterms:W3CDTF">2026-04-15T05:43:38Z</dcterms:created>
  <dcterms:modified xsi:type="dcterms:W3CDTF">2026-04-15T05:43:38Z</dcterms:modified>
</cp:coreProperties>
</file>